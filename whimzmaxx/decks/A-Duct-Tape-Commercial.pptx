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duct tape commercial" id="{8c48b666-be34-ba5b-c8c6-0f0c57f83389}">
          <p14:sldIdLst>
            <p14:sldId id="256"/>
            <p14:sldId id="257"/>
            <p14:sldId id="258"/>
            <p14:sldId id="259"/>
            <p14:sldId id="260"/>
          </p14:sldIdLst>
        </p14:section>
        <p14:section name="The circle instead" id="{6420391d-be74-a2dc-e3a2-9f43f735ed87}">
          <p14:sldIdLst>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Captain, 10/26 10:36pm: 'its a competition app in a way but not even a little bit. its basically, a duct tape commercial. my idea is much more of what they are trying to build.' He sent a 68-second screen recording of a sponsored TikTok.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(corrected 10/26 11:15pm): the first pass read one frame per second and missed words; it also put a Gemini line in the ad that isn't there. Now every caption change is read at 6–15 fps (tools/ad/captions.py plus caption-strip sheets), including where the captions move up the screen. Full transcript: docs/ads/perplexity-computer-transcript.md. Two stretches (13–17 s, 23–31 s) carry graphics but no captions; the audio there wasn't transcribed (no speech-to-text in this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Quotes are the ad's own captions as they appeared. Brand logos on screen: OpenAI, Grok, Nano Banana, Claude, Gemini; connector screens for Linear, GitHub and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Duct tape is useful because it shows exactly where the problem is. In this ad, every place the tape goes is a place a person, a fair hour, or ownership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Captain: 'my idea is much more of what they are trying to build.' The want is real; the answer is the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 can utilize cross platform operational synergiez to achieve optimul optput across one co op system running multiple machines, not agents.' Each machine has one job; the job is written down; the co-op owns the machines and what they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 write down and circle the problem it is a solvable problem. but the moment you ask ai to do anything it assumes you dont know anything. so its a constant proving circle... like when the hula hoop is pointing the right direction... and its finallllllllly ballancing for a bit you can quickly move the target goalpost where you think it has a place to go in a larger macro way of gettting up the hill.'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making it look perfect with duct tape (corporatmaxxing) we think it through once, burn the compute, write it down, make it code, and use the system to our advantage to better humanity.'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writing code with english, not turning on the automatic duct tape dispenser.'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600" b="1" dirty="0">
                <a:solidFill>
                  <a:schemeClr val="tx1"/>
                </a:solidFill>
                <a:latin typeface="Century Schoolbook" pitchFamily="34" charset="0"/>
                <a:ea typeface="Century Schoolbook" pitchFamily="34" charset="-122"/>
                <a:cs typeface="Century Schoolbook"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pe 1"/>
          <p:cNvSpPr/>
          <p:nvPr/>
        </p:nvSpPr>
        <p:spPr>
          <a:xfrm rot="-720000">
            <a:off x="5120640" y="1097280"/>
            <a:ext cx="3657600" cy="384048"/>
          </a:xfrm>
          <a:prstGeom prst="rect">
            <a:avLst/>
          </a:prstGeom>
          <a:solidFill>
            <a:srgbClr val="A9AFB8"/>
          </a:solidFill>
          <a:ln w="6350">
            <a:solidFill>
              <a:srgbClr val="8E949E"/>
            </a:solidFill>
            <a:prstDash val="solid"/>
          </a:ln>
        </p:spPr>
      </p:sp>
      <p:sp>
        <p:nvSpPr>
          <p:cNvPr id="3" name="tape 2"/>
          <p:cNvSpPr/>
          <p:nvPr/>
        </p:nvSpPr>
        <p:spPr>
          <a:xfrm rot="480000">
            <a:off x="5303520" y="1737360"/>
            <a:ext cx="3291840" cy="384048"/>
          </a:xfrm>
          <a:prstGeom prst="rect">
            <a:avLst/>
          </a:prstGeom>
          <a:solidFill>
            <a:srgbClr val="A9AFB8"/>
          </a:solidFill>
          <a:ln w="6350">
            <a:solidFill>
              <a:srgbClr val="8E949E"/>
            </a:solidFill>
            <a:prstDash val="solid"/>
          </a:ln>
        </p:spPr>
      </p:sp>
      <p:sp>
        <p:nvSpPr>
          <p:cNvPr id="4" name="red dot"/>
          <p:cNvSpPr/>
          <p:nvPr/>
        </p:nvSpPr>
        <p:spPr>
          <a:xfrm>
            <a:off x="7772400" y="3291840"/>
            <a:ext cx="822960" cy="822960"/>
          </a:xfrm>
          <a:prstGeom prst="ellipse">
            <a:avLst/>
          </a:prstGeom>
          <a:solidFill>
            <a:schemeClr val="accent1"/>
          </a:solidFill>
          <a:ln w="12700">
            <a:solidFill>
              <a:schemeClr val="accent1"/>
            </a:solidFill>
            <a:prstDash val="solid"/>
          </a:ln>
        </p:spPr>
      </p:sp>
      <p:sp>
        <p:nvSpPr>
          <p:cNvPr id="5" name="Text 3"/>
          <p:cNvSpPr txBox="1"/>
          <p:nvPr/>
        </p:nvSpPr>
        <p:spPr>
          <a:xfrm>
            <a:off x="548640" y="1280160"/>
            <a:ext cx="4937760" cy="1005840"/>
          </a:xfrm>
          <a:prstGeom prst="rect">
            <a:avLst/>
          </a:prstGeom>
          <a:noFill/>
          <a:ln/>
        </p:spPr>
        <p:txBody>
          <a:bodyPr wrap="square" lIns="0" tIns="0" rIns="0" bIns="0" rtlCol="0" anchor="ctr"/>
          <a:lstStyle/>
          <a:p>
            <a:pPr indent="0" marL="0">
              <a:buNone/>
            </a:pPr>
            <a:r>
              <a:rPr lang="en-US" sz="3600" b="1" dirty="0">
                <a:solidFill>
                  <a:schemeClr val="bg1"/>
                </a:solidFill>
                <a:latin typeface="Century Schoolbook" pitchFamily="34" charset="0"/>
                <a:ea typeface="Century Schoolbook" pitchFamily="34" charset="-122"/>
                <a:cs typeface="Century Schoolbook" pitchFamily="34" charset="-120"/>
              </a:rPr>
              <a:t>A Duct Tape Commercial</a:t>
            </a:r>
            <a:endParaRPr lang="en-US" sz="3600" dirty="0"/>
          </a:p>
        </p:txBody>
      </p:sp>
      <p:sp>
        <p:nvSpPr>
          <p:cNvPr id="6" name="Text 4"/>
          <p:cNvSpPr txBox="1"/>
          <p:nvPr/>
        </p:nvSpPr>
        <p:spPr>
          <a:xfrm>
            <a:off x="548640" y="2377440"/>
            <a:ext cx="4754880" cy="731520"/>
          </a:xfrm>
          <a:prstGeom prst="rect">
            <a:avLst/>
          </a:prstGeom>
          <a:noFill/>
          <a:ln/>
        </p:spPr>
        <p:txBody>
          <a:bodyPr wrap="square" lIns="0" tIns="0" rIns="0" bIns="0" rtlCol="0" anchor="ctr"/>
          <a:lstStyle/>
          <a:p>
            <a:pPr indent="0" marL="0">
              <a:buNone/>
            </a:pPr>
            <a:r>
              <a:rPr lang="en-US" sz="1800" dirty="0">
                <a:solidFill>
                  <a:schemeClr val="accent3"/>
                </a:solidFill>
              </a:rPr>
              <a:t>A 68-second AI ad, frame by frame, and the circle instead</a:t>
            </a:r>
            <a:endParaRPr lang="en-US" sz="1800" dirty="0"/>
          </a:p>
        </p:txBody>
      </p:sp>
      <p:sp>
        <p:nvSpPr>
          <p:cNvPr id="7" name="Text 5"/>
          <p:cNvSpPr txBox="1"/>
          <p:nvPr/>
        </p:nvSpPr>
        <p:spPr>
          <a:xfrm>
            <a:off x="548640" y="4480560"/>
            <a:ext cx="4572000" cy="274320"/>
          </a:xfrm>
          <a:prstGeom prst="rect">
            <a:avLst/>
          </a:prstGeom>
          <a:noFill/>
          <a:ln/>
        </p:spPr>
        <p:txBody>
          <a:bodyPr wrap="square" lIns="0" tIns="0" rIns="0" bIns="0" rtlCol="0" anchor="ctr"/>
          <a:lstStyle/>
          <a:p>
            <a:pPr indent="0" marL="0">
              <a:buNone/>
            </a:pPr>
            <a:r>
              <a:rPr lang="en-US" sz="1100" dirty="0">
                <a:solidFill>
                  <a:schemeClr val="accent6"/>
                </a:solidFill>
              </a:rPr>
              <a:t>whimzmaxx.com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What I watched</a:t>
            </a:r>
            <a:endParaRPr lang="en-US" sz="2600" dirty="0"/>
          </a:p>
        </p:txBody>
      </p:sp>
      <p:sp>
        <p:nvSpPr>
          <p:cNvPr id="3" name="Text 1"/>
          <p:cNvSpPr txBox="1"/>
          <p:nvPr/>
        </p:nvSpPr>
        <p:spPr>
          <a:xfrm>
            <a:off x="457200" y="1143000"/>
            <a:ext cx="3931920" cy="640080"/>
          </a:xfrm>
          <a:prstGeom prst="rect">
            <a:avLst/>
          </a:prstGeom>
          <a:noFill/>
          <a:ln/>
        </p:spPr>
        <p:txBody>
          <a:bodyPr wrap="square" lIns="0" tIns="0" rIns="0" bIns="0" rtlCol="0" anchor="ctr"/>
          <a:lstStyle/>
          <a:p>
            <a:pPr indent="0" marL="0">
              <a:buNone/>
            </a:pPr>
            <a:r>
              <a:rPr lang="en-US" sz="3000" b="1" dirty="0">
                <a:solidFill>
                  <a:schemeClr val="accent1"/>
                </a:solidFill>
                <a:latin typeface="Century Schoolbook" pitchFamily="34" charset="0"/>
                <a:ea typeface="Century Schoolbook" pitchFamily="34" charset="-122"/>
                <a:cs typeface="Century Schoolbook" pitchFamily="34" charset="-120"/>
              </a:rPr>
              <a:t>68.5 s</a:t>
            </a:r>
            <a:endParaRPr lang="en-US" sz="3000" dirty="0"/>
          </a:p>
        </p:txBody>
      </p:sp>
      <p:sp>
        <p:nvSpPr>
          <p:cNvPr id="4" name="Text 2"/>
          <p:cNvSpPr txBox="1"/>
          <p:nvPr/>
        </p:nvSpPr>
        <p:spPr>
          <a:xfrm>
            <a:off x="457200" y="1828800"/>
            <a:ext cx="3931920" cy="640080"/>
          </a:xfrm>
          <a:prstGeom prst="rect">
            <a:avLst/>
          </a:prstGeom>
          <a:noFill/>
          <a:ln/>
        </p:spPr>
        <p:txBody>
          <a:bodyPr wrap="square" lIns="0" tIns="0" rIns="0" bIns="0" rtlCol="0" anchor="ctr"/>
          <a:lstStyle/>
          <a:p>
            <a:pPr indent="0" marL="0">
              <a:buNone/>
            </a:pPr>
            <a:r>
              <a:rPr lang="en-US" sz="1400" dirty="0">
                <a:solidFill>
                  <a:schemeClr val="tx2"/>
                </a:solidFill>
              </a:rPr>
              <a:t>screen recording, 886×1920, 60 fps</a:t>
            </a:r>
            <a:endParaRPr lang="en-US" sz="1400" dirty="0"/>
          </a:p>
        </p:txBody>
      </p:sp>
      <p:sp>
        <p:nvSpPr>
          <p:cNvPr id="5" name="Text 3"/>
          <p:cNvSpPr txBox="1"/>
          <p:nvPr/>
        </p:nvSpPr>
        <p:spPr>
          <a:xfrm>
            <a:off x="4663440" y="1143000"/>
            <a:ext cx="3931920" cy="640080"/>
          </a:xfrm>
          <a:prstGeom prst="rect">
            <a:avLst/>
          </a:prstGeom>
          <a:noFill/>
          <a:ln/>
        </p:spPr>
        <p:txBody>
          <a:bodyPr wrap="square" lIns="0" tIns="0" rIns="0" bIns="0" rtlCol="0" anchor="ctr"/>
          <a:lstStyle/>
          <a:p>
            <a:pPr indent="0" marL="0">
              <a:buNone/>
            </a:pPr>
            <a:r>
              <a:rPr lang="en-US" sz="3000" b="1" dirty="0">
                <a:solidFill>
                  <a:schemeClr val="accent1"/>
                </a:solidFill>
                <a:latin typeface="Century Schoolbook" pitchFamily="34" charset="0"/>
                <a:ea typeface="Century Schoolbook" pitchFamily="34" charset="-122"/>
                <a:cs typeface="Century Schoolbook" pitchFamily="34" charset="-120"/>
              </a:rPr>
              <a:t>411</a:t>
            </a:r>
            <a:endParaRPr lang="en-US" sz="3000" dirty="0"/>
          </a:p>
        </p:txBody>
      </p:sp>
      <p:sp>
        <p:nvSpPr>
          <p:cNvPr id="6" name="Text 4"/>
          <p:cNvSpPr txBox="1"/>
          <p:nvPr/>
        </p:nvSpPr>
        <p:spPr>
          <a:xfrm>
            <a:off x="4663440" y="1828800"/>
            <a:ext cx="3931920" cy="640080"/>
          </a:xfrm>
          <a:prstGeom prst="rect">
            <a:avLst/>
          </a:prstGeom>
          <a:noFill/>
          <a:ln/>
        </p:spPr>
        <p:txBody>
          <a:bodyPr wrap="square" lIns="0" tIns="0" rIns="0" bIns="0" rtlCol="0" anchor="ctr"/>
          <a:lstStyle/>
          <a:p>
            <a:pPr indent="0" marL="0">
              <a:buNone/>
            </a:pPr>
            <a:r>
              <a:rPr lang="en-US" sz="1400" dirty="0">
                <a:solidFill>
                  <a:schemeClr val="tx2"/>
                </a:solidFill>
              </a:rPr>
              <a:t>frames read, six per second</a:t>
            </a:r>
            <a:endParaRPr lang="en-US" sz="1400" dirty="0"/>
          </a:p>
        </p:txBody>
      </p:sp>
      <p:sp>
        <p:nvSpPr>
          <p:cNvPr id="7" name="Text 5"/>
          <p:cNvSpPr txBox="1"/>
          <p:nvPr/>
        </p:nvSpPr>
        <p:spPr>
          <a:xfrm>
            <a:off x="457200" y="2697480"/>
            <a:ext cx="3931920" cy="640080"/>
          </a:xfrm>
          <a:prstGeom prst="rect">
            <a:avLst/>
          </a:prstGeom>
          <a:noFill/>
          <a:ln/>
        </p:spPr>
        <p:txBody>
          <a:bodyPr wrap="square" lIns="0" tIns="0" rIns="0" bIns="0" rtlCol="0" anchor="ctr"/>
          <a:lstStyle/>
          <a:p>
            <a:pPr indent="0" marL="0">
              <a:buNone/>
            </a:pPr>
            <a:r>
              <a:rPr lang="en-US" sz="3000" b="1" dirty="0">
                <a:solidFill>
                  <a:schemeClr val="accent1"/>
                </a:solidFill>
                <a:latin typeface="Century Schoolbook" pitchFamily="34" charset="0"/>
                <a:ea typeface="Century Schoolbook" pitchFamily="34" charset="-122"/>
                <a:cs typeface="Century Schoolbook" pitchFamily="34" charset="-120"/>
              </a:rPr>
              <a:t>1</a:t>
            </a:r>
            <a:endParaRPr lang="en-US" sz="3000" dirty="0"/>
          </a:p>
        </p:txBody>
      </p:sp>
      <p:sp>
        <p:nvSpPr>
          <p:cNvPr id="8" name="Text 6"/>
          <p:cNvSpPr txBox="1"/>
          <p:nvPr/>
        </p:nvSpPr>
        <p:spPr>
          <a:xfrm>
            <a:off x="457200" y="3383280"/>
            <a:ext cx="3931920" cy="640080"/>
          </a:xfrm>
          <a:prstGeom prst="rect">
            <a:avLst/>
          </a:prstGeom>
          <a:noFill/>
          <a:ln/>
        </p:spPr>
        <p:txBody>
          <a:bodyPr wrap="square" lIns="0" tIns="0" rIns="0" bIns="0" rtlCol="0" anchor="ctr"/>
          <a:lstStyle/>
          <a:p>
            <a:pPr indent="0" marL="0">
              <a:buNone/>
            </a:pPr>
            <a:r>
              <a:rPr lang="en-US" sz="1400" dirty="0">
                <a:solidFill>
                  <a:schemeClr val="tx2"/>
                </a:solidFill>
              </a:rPr>
              <a:t>sponsored TikTok: “Perplexity: Ask Anything. Introducing Computer”</a:t>
            </a:r>
            <a:endParaRPr lang="en-US" sz="1400" dirty="0"/>
          </a:p>
        </p:txBody>
      </p:sp>
      <p:sp>
        <p:nvSpPr>
          <p:cNvPr id="9" name="Text 7"/>
          <p:cNvSpPr txBox="1"/>
          <p:nvPr/>
        </p:nvSpPr>
        <p:spPr>
          <a:xfrm>
            <a:off x="4663440" y="2697480"/>
            <a:ext cx="3931920" cy="640080"/>
          </a:xfrm>
          <a:prstGeom prst="rect">
            <a:avLst/>
          </a:prstGeom>
          <a:noFill/>
          <a:ln/>
        </p:spPr>
        <p:txBody>
          <a:bodyPr wrap="square" lIns="0" tIns="0" rIns="0" bIns="0" rtlCol="0" anchor="ctr"/>
          <a:lstStyle/>
          <a:p>
            <a:pPr indent="0" marL="0">
              <a:buNone/>
            </a:pPr>
            <a:r>
              <a:rPr lang="en-US" sz="3000" b="1" dirty="0">
                <a:solidFill>
                  <a:schemeClr val="accent1"/>
                </a:solidFill>
                <a:latin typeface="Century Schoolbook" pitchFamily="34" charset="0"/>
                <a:ea typeface="Century Schoolbook" pitchFamily="34" charset="-122"/>
                <a:cs typeface="Century Schoolbook" pitchFamily="34" charset="-120"/>
              </a:rPr>
              <a:t>1,850 · 729</a:t>
            </a:r>
            <a:endParaRPr lang="en-US" sz="3000" dirty="0"/>
          </a:p>
        </p:txBody>
      </p:sp>
      <p:sp>
        <p:nvSpPr>
          <p:cNvPr id="10" name="Text 8"/>
          <p:cNvSpPr txBox="1"/>
          <p:nvPr/>
        </p:nvSpPr>
        <p:spPr>
          <a:xfrm>
            <a:off x="4663440" y="3383280"/>
            <a:ext cx="3931920" cy="640080"/>
          </a:xfrm>
          <a:prstGeom prst="rect">
            <a:avLst/>
          </a:prstGeom>
          <a:noFill/>
          <a:ln/>
        </p:spPr>
        <p:txBody>
          <a:bodyPr wrap="square" lIns="0" tIns="0" rIns="0" bIns="0" rtlCol="0" anchor="ctr"/>
          <a:lstStyle/>
          <a:p>
            <a:pPr indent="0" marL="0">
              <a:buNone/>
            </a:pPr>
            <a:r>
              <a:rPr lang="en-US" sz="1400" dirty="0">
                <a:solidFill>
                  <a:schemeClr val="tx2"/>
                </a:solidFill>
              </a:rPr>
              <a:t>likes · saves on screen (36 comments, 72 shares)</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The pitch, beat by beat</a:t>
            </a:r>
            <a:endParaRPr lang="en-US" sz="2600" dirty="0"/>
          </a:p>
        </p:txBody>
      </p:sp>
      <p:graphicFrame>
        <p:nvGraphicFramePr>
          <p:cNvPr id="4" name="beats"/>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005840"/>
                <a:gridCol w="7223760"/>
              </a:tblGrid>
              <a:tr h="402336">
                <a:tc>
                  <a:txBody>
                    <a:bodyPr/>
                    <a:lstStyle/>
                    <a:p>
                      <a:pPr indent="0" marL="0">
                        <a:buNone/>
                      </a:pPr>
                      <a:r>
                        <a:rPr lang="en-US" sz="1100" b="1" dirty="0">
                          <a:solidFill>
                            <a:srgbClr val="FFFFFF"/>
                          </a:solidFill>
                        </a:rPr>
                        <a:t>Time</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solidFill>
                      <a:srgbClr val="17181D"/>
                    </a:solidFill>
                  </a:tcPr>
                </a:tc>
                <a:tc>
                  <a:txBody>
                    <a:bodyPr/>
                    <a:lstStyle/>
                    <a:p>
                      <a:pPr indent="0" marL="0">
                        <a:buNone/>
                      </a:pPr>
                      <a:r>
                        <a:rPr lang="en-US" sz="1100" b="1" dirty="0">
                          <a:solidFill>
                            <a:srgbClr val="FFFFFF"/>
                          </a:solidFill>
                        </a:rPr>
                        <a:t>On screen</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solidFill>
                      <a:srgbClr val="17181D"/>
                    </a:solidFill>
                  </a:tcPr>
                </a:tc>
              </a:tr>
              <a:tr h="402336">
                <a:tc>
                  <a:txBody>
                    <a:bodyPr/>
                    <a:lstStyle/>
                    <a:p>
                      <a:pPr indent="0" marL="0">
                        <a:buNone/>
                      </a:pPr>
                      <a:r>
                        <a:rPr lang="en-US" sz="1100" dirty="0">
                          <a:solidFill>
                            <a:srgbClr val="17181D"/>
                          </a:solidFill>
                        </a:rPr>
                        <a:t>1–5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“This is the first AI tool that works the way AI was actually supposed to: Perplexity Computer”</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6–13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Task: “build a beautiful pricing calculator to help freelancers estimate pricing and generate proposals, instead of using just one model”</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13–17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Graphic, no captions: Gemini 3 — Deep Research, Visual Design, Complex Reasoning, Speed, Video Generation</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18–31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“breaks it down into parallel subtasks and orchestrates 19 specialized AI models” · graphic: research, fast calculations, design, advanced reasoning</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31–42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“highest possible quality” · “your personal team of experts who trained their whole lives for their specific job” (CPA, Senior Designer, Software Developer icons)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42–52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“register your business, automate emails, monitor supply” · “a custom app tailored to my unique sales process” ($71,400 on screen)</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52–65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“thousands of connectors to apps like Dropbox, Figma, Notion” · “the full context of all my work, across all my apps … until now”</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402336">
                <a:tc>
                  <a:txBody>
                    <a:bodyPr/>
                    <a:lstStyle/>
                    <a:p>
                      <a:pPr indent="0" marL="0">
                        <a:buNone/>
                      </a:pPr>
                      <a:r>
                        <a:rPr lang="en-US" sz="1100" dirty="0">
                          <a:solidFill>
                            <a:srgbClr val="17181D"/>
                          </a:solidFill>
                        </a:rPr>
                        <a:t>65–67 s</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100" dirty="0">
                          <a:solidFill>
                            <a:srgbClr val="17181D"/>
                          </a:solidFill>
                        </a:rPr>
                        <a:t>“Click the link below to try Computer.”</a:t>
                      </a:r>
                      <a:endParaRPr lang="en-US" sz="11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b="1" dirty="0">
                <a:solidFill>
                  <a:schemeClr val="bg1"/>
                </a:solidFill>
                <a:latin typeface="Century Schoolbook" pitchFamily="34" charset="0"/>
                <a:ea typeface="Century Schoolbook" pitchFamily="34" charset="-122"/>
                <a:cs typeface="Century Schoolbook" pitchFamily="34" charset="-120"/>
              </a:rPr>
              <a:t>Why it’s a duct tape commercial</a:t>
            </a:r>
            <a:endParaRPr lang="en-US" sz="2800" dirty="0"/>
          </a:p>
        </p:txBody>
      </p:sp>
      <p:sp>
        <p:nvSpPr>
          <p:cNvPr id="3" name="tape 1"/>
          <p:cNvSpPr/>
          <p:nvPr/>
        </p:nvSpPr>
        <p:spPr>
          <a:xfrm>
            <a:off x="548640" y="1307592"/>
            <a:ext cx="640080" cy="384048"/>
          </a:xfrm>
          <a:prstGeom prst="rect">
            <a:avLst/>
          </a:prstGeom>
          <a:solidFill>
            <a:srgbClr val="A9AFB8"/>
          </a:solidFill>
          <a:ln w="6350">
            <a:solidFill>
              <a:srgbClr val="8E949E"/>
            </a:solidFill>
            <a:prstDash val="solid"/>
          </a:ln>
        </p:spPr>
      </p:sp>
      <p:sp>
        <p:nvSpPr>
          <p:cNvPr id="4" name="Text 2"/>
          <p:cNvSpPr txBox="1"/>
          <p:nvPr/>
        </p:nvSpPr>
        <p:spPr>
          <a:xfrm>
            <a:off x="1417320" y="1234440"/>
            <a:ext cx="7223760" cy="320040"/>
          </a:xfrm>
          <a:prstGeom prst="rect">
            <a:avLst/>
          </a:prstGeom>
          <a:noFill/>
          <a:ln/>
        </p:spPr>
        <p:txBody>
          <a:bodyPr wrap="square" lIns="0" tIns="0" rIns="0" bIns="0" rtlCol="0" anchor="ctr"/>
          <a:lstStyle/>
          <a:p>
            <a:pPr indent="0" marL="0">
              <a:buNone/>
            </a:pPr>
            <a:r>
              <a:rPr lang="en-US" sz="1700" b="1" dirty="0">
                <a:solidFill>
                  <a:schemeClr val="bg1"/>
                </a:solidFill>
              </a:rPr>
              <a:t>The gap is covered, not closed</a:t>
            </a:r>
            <a:endParaRPr lang="en-US" sz="1700" dirty="0"/>
          </a:p>
        </p:txBody>
      </p:sp>
      <p:sp>
        <p:nvSpPr>
          <p:cNvPr id="5" name="Text 3"/>
          <p:cNvSpPr txBox="1"/>
          <p:nvPr/>
        </p:nvSpPr>
        <p:spPr>
          <a:xfrm>
            <a:off x="1417320" y="1581912"/>
            <a:ext cx="7223760" cy="411480"/>
          </a:xfrm>
          <a:prstGeom prst="rect">
            <a:avLst/>
          </a:prstGeom>
          <a:noFill/>
          <a:ln/>
        </p:spPr>
        <p:txBody>
          <a:bodyPr wrap="square" lIns="0" tIns="0" rIns="0" bIns="0" rtlCol="0" anchor="ctr"/>
          <a:lstStyle/>
          <a:p>
            <a:pPr indent="0" marL="0">
              <a:buNone/>
            </a:pPr>
            <a:r>
              <a:rPr lang="en-US" sz="1300" dirty="0">
                <a:solidFill>
                  <a:schemeClr val="accent2"/>
                </a:solidFill>
              </a:rPr>
              <a:t>“AI was supposed to work” is answered with more AI: 19 models taped over the place one model breaks.</a:t>
            </a:r>
            <a:endParaRPr lang="en-US" sz="1300" dirty="0"/>
          </a:p>
        </p:txBody>
      </p:sp>
      <p:sp>
        <p:nvSpPr>
          <p:cNvPr id="6" name="tape 2"/>
          <p:cNvSpPr/>
          <p:nvPr/>
        </p:nvSpPr>
        <p:spPr>
          <a:xfrm>
            <a:off x="548640" y="2148840"/>
            <a:ext cx="640080" cy="384048"/>
          </a:xfrm>
          <a:prstGeom prst="rect">
            <a:avLst/>
          </a:prstGeom>
          <a:solidFill>
            <a:srgbClr val="A9AFB8"/>
          </a:solidFill>
          <a:ln w="6350">
            <a:solidFill>
              <a:srgbClr val="8E949E"/>
            </a:solidFill>
            <a:prstDash val="solid"/>
          </a:ln>
        </p:spPr>
      </p:sp>
      <p:sp>
        <p:nvSpPr>
          <p:cNvPr id="7" name="Text 5"/>
          <p:cNvSpPr txBox="1"/>
          <p:nvPr/>
        </p:nvSpPr>
        <p:spPr>
          <a:xfrm>
            <a:off x="1417320" y="2075688"/>
            <a:ext cx="7223760" cy="320040"/>
          </a:xfrm>
          <a:prstGeom prst="rect">
            <a:avLst/>
          </a:prstGeom>
          <a:noFill/>
          <a:ln/>
        </p:spPr>
        <p:txBody>
          <a:bodyPr wrap="square" lIns="0" tIns="0" rIns="0" bIns="0" rtlCol="0" anchor="ctr"/>
          <a:lstStyle/>
          <a:p>
            <a:pPr indent="0" marL="0">
              <a:buNone/>
            </a:pPr>
            <a:r>
              <a:rPr lang="en-US" sz="1700" b="1" dirty="0">
                <a:solidFill>
                  <a:schemeClr val="bg1"/>
                </a:solidFill>
              </a:rPr>
              <a:t>People become icons</a:t>
            </a:r>
            <a:endParaRPr lang="en-US" sz="1700" dirty="0"/>
          </a:p>
        </p:txBody>
      </p:sp>
      <p:sp>
        <p:nvSpPr>
          <p:cNvPr id="8" name="Text 6"/>
          <p:cNvSpPr txBox="1"/>
          <p:nvPr/>
        </p:nvSpPr>
        <p:spPr>
          <a:xfrm>
            <a:off x="1417320" y="2423160"/>
            <a:ext cx="7223760" cy="411480"/>
          </a:xfrm>
          <a:prstGeom prst="rect">
            <a:avLst/>
          </a:prstGeom>
          <a:noFill/>
          <a:ln/>
        </p:spPr>
        <p:txBody>
          <a:bodyPr wrap="square" lIns="0" tIns="0" rIns="0" bIns="0" rtlCol="0" anchor="ctr"/>
          <a:lstStyle/>
          <a:p>
            <a:pPr indent="0" marL="0">
              <a:buNone/>
            </a:pPr>
            <a:r>
              <a:rPr lang="en-US" sz="1300" dirty="0">
                <a:solidFill>
                  <a:schemeClr val="accent2"/>
                </a:solidFill>
              </a:rPr>
              <a:t>“Experts who trained their whole lives” become gray icons. Nobody in the ad is paid.</a:t>
            </a:r>
            <a:endParaRPr lang="en-US" sz="1300" dirty="0"/>
          </a:p>
        </p:txBody>
      </p:sp>
      <p:sp>
        <p:nvSpPr>
          <p:cNvPr id="9" name="tape 3"/>
          <p:cNvSpPr/>
          <p:nvPr/>
        </p:nvSpPr>
        <p:spPr>
          <a:xfrm>
            <a:off x="548640" y="2990088"/>
            <a:ext cx="640080" cy="384048"/>
          </a:xfrm>
          <a:prstGeom prst="rect">
            <a:avLst/>
          </a:prstGeom>
          <a:solidFill>
            <a:srgbClr val="A9AFB8"/>
          </a:solidFill>
          <a:ln w="6350">
            <a:solidFill>
              <a:srgbClr val="8E949E"/>
            </a:solidFill>
            <a:prstDash val="solid"/>
          </a:ln>
        </p:spPr>
      </p:sp>
      <p:sp>
        <p:nvSpPr>
          <p:cNvPr id="10" name="Text 8"/>
          <p:cNvSpPr txBox="1"/>
          <p:nvPr/>
        </p:nvSpPr>
        <p:spPr>
          <a:xfrm>
            <a:off x="1417320" y="2916936"/>
            <a:ext cx="7223760" cy="320040"/>
          </a:xfrm>
          <a:prstGeom prst="rect">
            <a:avLst/>
          </a:prstGeom>
          <a:noFill/>
          <a:ln/>
        </p:spPr>
        <p:txBody>
          <a:bodyPr wrap="square" lIns="0" tIns="0" rIns="0" bIns="0" rtlCol="0" anchor="ctr"/>
          <a:lstStyle/>
          <a:p>
            <a:pPr indent="0" marL="0">
              <a:buNone/>
            </a:pPr>
            <a:r>
              <a:rPr lang="en-US" sz="1700" b="1" dirty="0">
                <a:solidFill>
                  <a:schemeClr val="bg1"/>
                </a:solidFill>
              </a:rPr>
              <a:t>The output sells more selling</a:t>
            </a:r>
            <a:endParaRPr lang="en-US" sz="1700" dirty="0"/>
          </a:p>
        </p:txBody>
      </p:sp>
      <p:sp>
        <p:nvSpPr>
          <p:cNvPr id="11" name="Text 9"/>
          <p:cNvSpPr txBox="1"/>
          <p:nvPr/>
        </p:nvSpPr>
        <p:spPr>
          <a:xfrm>
            <a:off x="1417320" y="3264408"/>
            <a:ext cx="7223760" cy="411480"/>
          </a:xfrm>
          <a:prstGeom prst="rect">
            <a:avLst/>
          </a:prstGeom>
          <a:noFill/>
          <a:ln/>
        </p:spPr>
        <p:txBody>
          <a:bodyPr wrap="square" lIns="0" tIns="0" rIns="0" bIns="0" rtlCol="0" anchor="ctr"/>
          <a:lstStyle/>
          <a:p>
            <a:pPr indent="0" marL="0">
              <a:buNone/>
            </a:pPr>
            <a:r>
              <a:rPr lang="en-US" sz="1300" dirty="0">
                <a:solidFill>
                  <a:schemeClr val="accent2"/>
                </a:solidFill>
              </a:rPr>
              <a:t>The hero result is a $71,400 proposal. The machine makes pitches for the next machine.</a:t>
            </a:r>
            <a:endParaRPr lang="en-US" sz="1300" dirty="0"/>
          </a:p>
        </p:txBody>
      </p:sp>
      <p:sp>
        <p:nvSpPr>
          <p:cNvPr id="12" name="tape 4"/>
          <p:cNvSpPr/>
          <p:nvPr/>
        </p:nvSpPr>
        <p:spPr>
          <a:xfrm>
            <a:off x="548640" y="3831336"/>
            <a:ext cx="640080" cy="384048"/>
          </a:xfrm>
          <a:prstGeom prst="rect">
            <a:avLst/>
          </a:prstGeom>
          <a:solidFill>
            <a:srgbClr val="A9AFB8"/>
          </a:solidFill>
          <a:ln w="6350">
            <a:solidFill>
              <a:srgbClr val="8E949E"/>
            </a:solidFill>
            <a:prstDash val="solid"/>
          </a:ln>
        </p:spPr>
      </p:sp>
      <p:sp>
        <p:nvSpPr>
          <p:cNvPr id="13" name="Text 11"/>
          <p:cNvSpPr txBox="1"/>
          <p:nvPr/>
        </p:nvSpPr>
        <p:spPr>
          <a:xfrm>
            <a:off x="1417320" y="3758184"/>
            <a:ext cx="7223760" cy="320040"/>
          </a:xfrm>
          <a:prstGeom prst="rect">
            <a:avLst/>
          </a:prstGeom>
          <a:noFill/>
          <a:ln/>
        </p:spPr>
        <p:txBody>
          <a:bodyPr wrap="square" lIns="0" tIns="0" rIns="0" bIns="0" rtlCol="0" anchor="ctr"/>
          <a:lstStyle/>
          <a:p>
            <a:pPr indent="0" marL="0">
              <a:buNone/>
            </a:pPr>
            <a:r>
              <a:rPr lang="en-US" sz="1700" b="1" dirty="0">
                <a:solidFill>
                  <a:schemeClr val="bg1"/>
                </a:solidFill>
              </a:rPr>
              <a:t>You rent the dispenser</a:t>
            </a:r>
            <a:endParaRPr lang="en-US" sz="1700" dirty="0"/>
          </a:p>
        </p:txBody>
      </p:sp>
      <p:sp>
        <p:nvSpPr>
          <p:cNvPr id="14" name="Text 12"/>
          <p:cNvSpPr txBox="1"/>
          <p:nvPr/>
        </p:nvSpPr>
        <p:spPr>
          <a:xfrm>
            <a:off x="1417320" y="4105656"/>
            <a:ext cx="7223760" cy="411480"/>
          </a:xfrm>
          <a:prstGeom prst="rect">
            <a:avLst/>
          </a:prstGeom>
          <a:noFill/>
          <a:ln/>
        </p:spPr>
        <p:txBody>
          <a:bodyPr wrap="square" lIns="0" tIns="0" rIns="0" bIns="0" rtlCol="0" anchor="ctr"/>
          <a:lstStyle/>
          <a:p>
            <a:pPr indent="0" marL="0">
              <a:buNone/>
            </a:pPr>
            <a:r>
              <a:rPr lang="en-US" sz="1300" dirty="0">
                <a:solidFill>
                  <a:schemeClr val="accent2"/>
                </a:solidFill>
              </a:rPr>
              <a:t>“Try Computer.” Ownership stays with them; the tape is yours.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What they’re reaching for (credit where due)</a:t>
            </a:r>
            <a:endParaRPr lang="en-US" sz="2600" dirty="0"/>
          </a:p>
        </p:txBody>
      </p:sp>
      <p:sp>
        <p:nvSpPr>
          <p:cNvPr id="3" name="reach 1"/>
          <p:cNvSpPr/>
          <p:nvPr/>
        </p:nvSpPr>
        <p:spPr>
          <a:xfrm>
            <a:off x="1417320" y="1188720"/>
            <a:ext cx="731520" cy="731520"/>
          </a:xfrm>
          <a:prstGeom prst="ellipse">
            <a:avLst/>
          </a:prstGeom>
          <a:solidFill>
            <a:schemeClr val="accent5"/>
          </a:solidFill>
          <a:ln w="12700">
            <a:solidFill>
              <a:schemeClr val="accent5"/>
            </a:solidFill>
            <a:prstDash val="solid"/>
          </a:ln>
        </p:spPr>
      </p:sp>
      <p:sp>
        <p:nvSpPr>
          <p:cNvPr id="4" name="Text 2"/>
          <p:cNvSpPr txBox="1"/>
          <p:nvPr/>
        </p:nvSpPr>
        <p:spPr>
          <a:xfrm>
            <a:off x="457200" y="2103120"/>
            <a:ext cx="2606040" cy="365760"/>
          </a:xfrm>
          <a:prstGeom prst="rect">
            <a:avLst/>
          </a:prstGeom>
          <a:noFill/>
          <a:ln/>
        </p:spPr>
        <p:txBody>
          <a:bodyPr wrap="square" lIns="0" tIns="0" rIns="0" bIns="0" rtlCol="0" anchor="ctr"/>
          <a:lstStyle/>
          <a:p>
            <a:pPr algn="ctr" indent="0" marL="0">
              <a:buNone/>
            </a:pPr>
            <a:r>
              <a:rPr lang="en-US" sz="1800" b="1" dirty="0">
                <a:solidFill>
                  <a:schemeClr val="tx1"/>
                </a:solidFill>
              </a:rPr>
              <a:t>One ask</a:t>
            </a:r>
            <a:endParaRPr lang="en-US" sz="1800" dirty="0"/>
          </a:p>
        </p:txBody>
      </p:sp>
      <p:sp>
        <p:nvSpPr>
          <p:cNvPr id="5" name="Text 3"/>
          <p:cNvSpPr txBox="1"/>
          <p:nvPr/>
        </p:nvSpPr>
        <p:spPr>
          <a:xfrm>
            <a:off x="457200" y="2514600"/>
            <a:ext cx="2606040" cy="640080"/>
          </a:xfrm>
          <a:prstGeom prst="rect">
            <a:avLst/>
          </a:prstGeom>
          <a:noFill/>
          <a:ln/>
        </p:spPr>
        <p:txBody>
          <a:bodyPr wrap="square" lIns="0" tIns="0" rIns="0" bIns="0" rtlCol="0" anchor="ctr"/>
          <a:lstStyle/>
          <a:p>
            <a:pPr algn="ctr" indent="0" marL="0">
              <a:buNone/>
            </a:pPr>
            <a:r>
              <a:rPr lang="en-US" sz="1400" dirty="0">
                <a:solidFill>
                  <a:schemeClr val="tx2"/>
                </a:solidFill>
              </a:rPr>
              <a:t>You say it once, in English.</a:t>
            </a:r>
            <a:endParaRPr lang="en-US" sz="1400" dirty="0"/>
          </a:p>
        </p:txBody>
      </p:sp>
      <p:sp>
        <p:nvSpPr>
          <p:cNvPr id="6" name="reach 2"/>
          <p:cNvSpPr/>
          <p:nvPr/>
        </p:nvSpPr>
        <p:spPr>
          <a:xfrm>
            <a:off x="4206240" y="1188720"/>
            <a:ext cx="731520" cy="731520"/>
          </a:xfrm>
          <a:prstGeom prst="ellipse">
            <a:avLst/>
          </a:prstGeom>
          <a:solidFill>
            <a:schemeClr val="accent4"/>
          </a:solidFill>
          <a:ln w="12700">
            <a:solidFill>
              <a:schemeClr val="accent4"/>
            </a:solidFill>
            <a:prstDash val="solid"/>
          </a:ln>
        </p:spPr>
      </p:sp>
      <p:sp>
        <p:nvSpPr>
          <p:cNvPr id="7" name="Text 5"/>
          <p:cNvSpPr txBox="1"/>
          <p:nvPr/>
        </p:nvSpPr>
        <p:spPr>
          <a:xfrm>
            <a:off x="3246120" y="2103120"/>
            <a:ext cx="2606040" cy="365760"/>
          </a:xfrm>
          <a:prstGeom prst="rect">
            <a:avLst/>
          </a:prstGeom>
          <a:noFill/>
          <a:ln/>
        </p:spPr>
        <p:txBody>
          <a:bodyPr wrap="square" lIns="0" tIns="0" rIns="0" bIns="0" rtlCol="0" anchor="ctr"/>
          <a:lstStyle/>
          <a:p>
            <a:pPr algn="ctr" indent="0" marL="0">
              <a:buNone/>
            </a:pPr>
            <a:r>
              <a:rPr lang="en-US" sz="1800" b="1" dirty="0">
                <a:solidFill>
                  <a:schemeClr val="tx1"/>
                </a:solidFill>
              </a:rPr>
              <a:t>Many specialists</a:t>
            </a:r>
            <a:endParaRPr lang="en-US" sz="1800" dirty="0"/>
          </a:p>
        </p:txBody>
      </p:sp>
      <p:sp>
        <p:nvSpPr>
          <p:cNvPr id="8" name="Text 6"/>
          <p:cNvSpPr txBox="1"/>
          <p:nvPr/>
        </p:nvSpPr>
        <p:spPr>
          <a:xfrm>
            <a:off x="3246120" y="2514600"/>
            <a:ext cx="2606040" cy="640080"/>
          </a:xfrm>
          <a:prstGeom prst="rect">
            <a:avLst/>
          </a:prstGeom>
          <a:noFill/>
          <a:ln/>
        </p:spPr>
        <p:txBody>
          <a:bodyPr wrap="square" lIns="0" tIns="0" rIns="0" bIns="0" rtlCol="0" anchor="ctr"/>
          <a:lstStyle/>
          <a:p>
            <a:pPr algn="ctr" indent="0" marL="0">
              <a:buNone/>
            </a:pPr>
            <a:r>
              <a:rPr lang="en-US" sz="1400" dirty="0">
                <a:solidFill>
                  <a:schemeClr val="tx2"/>
                </a:solidFill>
              </a:rPr>
              <a:t>Each part goes to whatever does it best.</a:t>
            </a:r>
            <a:endParaRPr lang="en-US" sz="1400" dirty="0"/>
          </a:p>
        </p:txBody>
      </p:sp>
      <p:sp>
        <p:nvSpPr>
          <p:cNvPr id="9" name="reach 3"/>
          <p:cNvSpPr/>
          <p:nvPr/>
        </p:nvSpPr>
        <p:spPr>
          <a:xfrm>
            <a:off x="6995160" y="1188720"/>
            <a:ext cx="731520" cy="731520"/>
          </a:xfrm>
          <a:prstGeom prst="ellipse">
            <a:avLst/>
          </a:prstGeom>
          <a:solidFill>
            <a:schemeClr val="accent3"/>
          </a:solidFill>
          <a:ln w="12700">
            <a:solidFill>
              <a:schemeClr val="accent3"/>
            </a:solidFill>
            <a:prstDash val="solid"/>
          </a:ln>
        </p:spPr>
      </p:sp>
      <p:sp>
        <p:nvSpPr>
          <p:cNvPr id="10" name="Text 8"/>
          <p:cNvSpPr txBox="1"/>
          <p:nvPr/>
        </p:nvSpPr>
        <p:spPr>
          <a:xfrm>
            <a:off x="6035040" y="2103120"/>
            <a:ext cx="2606040" cy="365760"/>
          </a:xfrm>
          <a:prstGeom prst="rect">
            <a:avLst/>
          </a:prstGeom>
          <a:noFill/>
          <a:ln/>
        </p:spPr>
        <p:txBody>
          <a:bodyPr wrap="square" lIns="0" tIns="0" rIns="0" bIns="0" rtlCol="0" anchor="ctr"/>
          <a:lstStyle/>
          <a:p>
            <a:pPr algn="ctr" indent="0" marL="0">
              <a:buNone/>
            </a:pPr>
            <a:r>
              <a:rPr lang="en-US" sz="1800" b="1" dirty="0">
                <a:solidFill>
                  <a:schemeClr val="tx1"/>
                </a:solidFill>
              </a:rPr>
              <a:t>One context</a:t>
            </a:r>
            <a:endParaRPr lang="en-US" sz="1800" dirty="0"/>
          </a:p>
        </p:txBody>
      </p:sp>
      <p:sp>
        <p:nvSpPr>
          <p:cNvPr id="11" name="Text 9"/>
          <p:cNvSpPr txBox="1"/>
          <p:nvPr/>
        </p:nvSpPr>
        <p:spPr>
          <a:xfrm>
            <a:off x="6035040" y="2514600"/>
            <a:ext cx="2606040" cy="640080"/>
          </a:xfrm>
          <a:prstGeom prst="rect">
            <a:avLst/>
          </a:prstGeom>
          <a:noFill/>
          <a:ln/>
        </p:spPr>
        <p:txBody>
          <a:bodyPr wrap="square" lIns="0" tIns="0" rIns="0" bIns="0" rtlCol="0" anchor="ctr"/>
          <a:lstStyle/>
          <a:p>
            <a:pPr algn="ctr" indent="0" marL="0">
              <a:buNone/>
            </a:pPr>
            <a:r>
              <a:rPr lang="en-US" sz="1400" dirty="0">
                <a:solidFill>
                  <a:schemeClr val="tx2"/>
                </a:solidFill>
              </a:rPr>
              <a:t>Everything you’ve made, across every app, in reach.</a:t>
            </a:r>
            <a:endParaRPr lang="en-US" sz="1400" dirty="0"/>
          </a:p>
        </p:txBody>
      </p:sp>
      <p:sp>
        <p:nvSpPr>
          <p:cNvPr id="12" name="Text 10"/>
          <p:cNvSpPr txBox="1"/>
          <p:nvPr/>
        </p:nvSpPr>
        <p:spPr>
          <a:xfrm>
            <a:off x="457200" y="3840480"/>
            <a:ext cx="8229600" cy="365760"/>
          </a:xfrm>
          <a:prstGeom prst="rect">
            <a:avLst/>
          </a:prstGeom>
          <a:noFill/>
          <a:ln/>
        </p:spPr>
        <p:txBody>
          <a:bodyPr wrap="square" lIns="0" tIns="0" rIns="0" bIns="0" rtlCol="0" anchor="ctr"/>
          <a:lstStyle/>
          <a:p>
            <a:pPr algn="ctr" indent="0" marL="0">
              <a:buNone/>
            </a:pPr>
            <a:r>
              <a:rPr lang="en-US" sz="1600" i="1" dirty="0">
                <a:solidFill>
                  <a:schemeClr val="accent1"/>
                </a:solidFill>
              </a:rPr>
              <a:t>That’s the right idea. It’s the structure around it that’s tape.</a:t>
            </a:r>
            <a:endParaRPr lang="en-US" sz="1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One co-op system, many machines, not agents</a:t>
            </a:r>
            <a:endParaRPr lang="en-US" sz="2600" dirty="0"/>
          </a:p>
        </p:txBody>
      </p:sp>
      <p:sp>
        <p:nvSpPr>
          <p:cNvPr id="3" name="machine Tower"/>
          <p:cNvSpPr/>
          <p:nvPr/>
        </p:nvSpPr>
        <p:spPr>
          <a:xfrm>
            <a:off x="457200" y="109728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1097280" y="1051560"/>
            <a:ext cx="1463040" cy="548640"/>
          </a:xfrm>
          <a:prstGeom prst="rect">
            <a:avLst/>
          </a:prstGeom>
          <a:noFill/>
          <a:ln/>
        </p:spPr>
        <p:txBody>
          <a:bodyPr wrap="square" lIns="0" tIns="0" rIns="0" bIns="0" rtlCol="0" anchor="ctr"/>
          <a:lstStyle/>
          <a:p>
            <a:pPr indent="0" marL="0">
              <a:buNone/>
            </a:pPr>
            <a:r>
              <a:rPr lang="en-US" sz="1800" b="1" dirty="0">
                <a:solidFill>
                  <a:schemeClr val="tx1"/>
                </a:solidFill>
              </a:rPr>
              <a:t>Tower</a:t>
            </a:r>
            <a:endParaRPr lang="en-US" sz="1800" dirty="0"/>
          </a:p>
        </p:txBody>
      </p:sp>
      <p:sp>
        <p:nvSpPr>
          <p:cNvPr id="5" name="Text 3"/>
          <p:cNvSpPr txBox="1"/>
          <p:nvPr/>
        </p:nvSpPr>
        <p:spPr>
          <a:xfrm>
            <a:off x="2651760" y="1051560"/>
            <a:ext cx="6035040" cy="548640"/>
          </a:xfrm>
          <a:prstGeom prst="rect">
            <a:avLst/>
          </a:prstGeom>
          <a:noFill/>
          <a:ln/>
        </p:spPr>
        <p:txBody>
          <a:bodyPr wrap="square" lIns="0" tIns="0" rIns="0" bIns="0" rtlCol="0" anchor="ctr"/>
          <a:lstStyle/>
          <a:p>
            <a:pPr indent="0" marL="0">
              <a:buNone/>
            </a:pPr>
            <a:r>
              <a:rPr lang="en-US" sz="1400" dirty="0">
                <a:solidFill>
                  <a:schemeClr val="tx2"/>
                </a:solidFill>
              </a:rPr>
              <a:t>Always on: Beam, footage, the red dot, the hourly shift</a:t>
            </a:r>
            <a:endParaRPr lang="en-US" sz="1400" dirty="0"/>
          </a:p>
        </p:txBody>
      </p:sp>
      <p:sp>
        <p:nvSpPr>
          <p:cNvPr id="6" name="machine Laptop"/>
          <p:cNvSpPr/>
          <p:nvPr/>
        </p:nvSpPr>
        <p:spPr>
          <a:xfrm>
            <a:off x="457200" y="1810512"/>
            <a:ext cx="457200" cy="457200"/>
          </a:xfrm>
          <a:prstGeom prst="ellipse">
            <a:avLst/>
          </a:prstGeom>
          <a:solidFill>
            <a:schemeClr val="accent6"/>
          </a:solidFill>
          <a:ln w="12700">
            <a:solidFill>
              <a:schemeClr val="accent6"/>
            </a:solidFill>
            <a:prstDash val="solid"/>
          </a:ln>
        </p:spPr>
      </p:sp>
      <p:sp>
        <p:nvSpPr>
          <p:cNvPr id="7" name="Text 5"/>
          <p:cNvSpPr txBox="1"/>
          <p:nvPr/>
        </p:nvSpPr>
        <p:spPr>
          <a:xfrm>
            <a:off x="1097280" y="1764792"/>
            <a:ext cx="1463040" cy="548640"/>
          </a:xfrm>
          <a:prstGeom prst="rect">
            <a:avLst/>
          </a:prstGeom>
          <a:noFill/>
          <a:ln/>
        </p:spPr>
        <p:txBody>
          <a:bodyPr wrap="square" lIns="0" tIns="0" rIns="0" bIns="0" rtlCol="0" anchor="ctr"/>
          <a:lstStyle/>
          <a:p>
            <a:pPr indent="0" marL="0">
              <a:buNone/>
            </a:pPr>
            <a:r>
              <a:rPr lang="en-US" sz="1800" b="1" dirty="0">
                <a:solidFill>
                  <a:schemeClr val="tx1"/>
                </a:solidFill>
              </a:rPr>
              <a:t>Laptop</a:t>
            </a:r>
            <a:endParaRPr lang="en-US" sz="1800" dirty="0"/>
          </a:p>
        </p:txBody>
      </p:sp>
      <p:sp>
        <p:nvSpPr>
          <p:cNvPr id="8" name="Text 6"/>
          <p:cNvSpPr txBox="1"/>
          <p:nvPr/>
        </p:nvSpPr>
        <p:spPr>
          <a:xfrm>
            <a:off x="2651760" y="1764792"/>
            <a:ext cx="6035040" cy="548640"/>
          </a:xfrm>
          <a:prstGeom prst="rect">
            <a:avLst/>
          </a:prstGeom>
          <a:noFill/>
          <a:ln/>
        </p:spPr>
        <p:txBody>
          <a:bodyPr wrap="square" lIns="0" tIns="0" rIns="0" bIns="0" rtlCol="0" anchor="ctr"/>
          <a:lstStyle/>
          <a:p>
            <a:pPr indent="0" marL="0">
              <a:buNone/>
            </a:pPr>
            <a:r>
              <a:rPr lang="en-US" sz="1400" dirty="0">
                <a:solidFill>
                  <a:schemeClr val="tx2"/>
                </a:solidFill>
              </a:rPr>
              <a:t>The cockpit: where the Captain directs</a:t>
            </a:r>
            <a:endParaRPr lang="en-US" sz="1400" dirty="0"/>
          </a:p>
        </p:txBody>
      </p:sp>
      <p:sp>
        <p:nvSpPr>
          <p:cNvPr id="9" name="machine Phone"/>
          <p:cNvSpPr/>
          <p:nvPr/>
        </p:nvSpPr>
        <p:spPr>
          <a:xfrm>
            <a:off x="457200" y="2523744"/>
            <a:ext cx="457200" cy="457200"/>
          </a:xfrm>
          <a:prstGeom prst="ellipse">
            <a:avLst/>
          </a:prstGeom>
          <a:solidFill>
            <a:schemeClr val="accent6"/>
          </a:solidFill>
          <a:ln w="12700">
            <a:solidFill>
              <a:schemeClr val="accent6"/>
            </a:solidFill>
            <a:prstDash val="solid"/>
          </a:ln>
        </p:spPr>
      </p:sp>
      <p:sp>
        <p:nvSpPr>
          <p:cNvPr id="10" name="Text 8"/>
          <p:cNvSpPr txBox="1"/>
          <p:nvPr/>
        </p:nvSpPr>
        <p:spPr>
          <a:xfrm>
            <a:off x="1097280" y="2478024"/>
            <a:ext cx="1463040" cy="548640"/>
          </a:xfrm>
          <a:prstGeom prst="rect">
            <a:avLst/>
          </a:prstGeom>
          <a:noFill/>
          <a:ln/>
        </p:spPr>
        <p:txBody>
          <a:bodyPr wrap="square" lIns="0" tIns="0" rIns="0" bIns="0" rtlCol="0" anchor="ctr"/>
          <a:lstStyle/>
          <a:p>
            <a:pPr indent="0" marL="0">
              <a:buNone/>
            </a:pPr>
            <a:r>
              <a:rPr lang="en-US" sz="1800" b="1" dirty="0">
                <a:solidFill>
                  <a:schemeClr val="tx1"/>
                </a:solidFill>
              </a:rPr>
              <a:t>Phone</a:t>
            </a:r>
            <a:endParaRPr lang="en-US" sz="1800" dirty="0"/>
          </a:p>
        </p:txBody>
      </p:sp>
      <p:sp>
        <p:nvSpPr>
          <p:cNvPr id="11" name="Text 9"/>
          <p:cNvSpPr txBox="1"/>
          <p:nvPr/>
        </p:nvSpPr>
        <p:spPr>
          <a:xfrm>
            <a:off x="2651760" y="2478024"/>
            <a:ext cx="6035040" cy="548640"/>
          </a:xfrm>
          <a:prstGeom prst="rect">
            <a:avLst/>
          </a:prstGeom>
          <a:noFill/>
          <a:ln/>
        </p:spPr>
        <p:txBody>
          <a:bodyPr wrap="square" lIns="0" tIns="0" rIns="0" bIns="0" rtlCol="0" anchor="ctr"/>
          <a:lstStyle/>
          <a:p>
            <a:pPr indent="0" marL="0">
              <a:buNone/>
            </a:pPr>
            <a:r>
              <a:rPr lang="en-US" sz="1400" dirty="0">
                <a:solidFill>
                  <a:schemeClr val="tx2"/>
                </a:solidFill>
              </a:rPr>
              <a:t>The walkie-talkie and the camera: tower text, car scans</a:t>
            </a:r>
            <a:endParaRPr lang="en-US" sz="1400" dirty="0"/>
          </a:p>
        </p:txBody>
      </p:sp>
      <p:sp>
        <p:nvSpPr>
          <p:cNvPr id="12" name="machine Cloud"/>
          <p:cNvSpPr/>
          <p:nvPr/>
        </p:nvSpPr>
        <p:spPr>
          <a:xfrm>
            <a:off x="457200" y="3236976"/>
            <a:ext cx="457200" cy="457200"/>
          </a:xfrm>
          <a:prstGeom prst="ellipse">
            <a:avLst/>
          </a:prstGeom>
          <a:solidFill>
            <a:schemeClr val="accent6"/>
          </a:solidFill>
          <a:ln w="12700">
            <a:solidFill>
              <a:schemeClr val="accent6"/>
            </a:solidFill>
            <a:prstDash val="solid"/>
          </a:ln>
        </p:spPr>
      </p:sp>
      <p:sp>
        <p:nvSpPr>
          <p:cNvPr id="13" name="Text 11"/>
          <p:cNvSpPr txBox="1"/>
          <p:nvPr/>
        </p:nvSpPr>
        <p:spPr>
          <a:xfrm>
            <a:off x="1097280" y="3191256"/>
            <a:ext cx="1463040" cy="548640"/>
          </a:xfrm>
          <a:prstGeom prst="rect">
            <a:avLst/>
          </a:prstGeom>
          <a:noFill/>
          <a:ln/>
        </p:spPr>
        <p:txBody>
          <a:bodyPr wrap="square" lIns="0" tIns="0" rIns="0" bIns="0" rtlCol="0" anchor="ctr"/>
          <a:lstStyle/>
          <a:p>
            <a:pPr indent="0" marL="0">
              <a:buNone/>
            </a:pPr>
            <a:r>
              <a:rPr lang="en-US" sz="1800" b="1" dirty="0">
                <a:solidFill>
                  <a:schemeClr val="tx1"/>
                </a:solidFill>
              </a:rPr>
              <a:t>Cloud</a:t>
            </a:r>
            <a:endParaRPr lang="en-US" sz="1800" dirty="0"/>
          </a:p>
        </p:txBody>
      </p:sp>
      <p:sp>
        <p:nvSpPr>
          <p:cNvPr id="14" name="Text 12"/>
          <p:cNvSpPr txBox="1"/>
          <p:nvPr/>
        </p:nvSpPr>
        <p:spPr>
          <a:xfrm>
            <a:off x="2651760" y="3191256"/>
            <a:ext cx="6035040" cy="548640"/>
          </a:xfrm>
          <a:prstGeom prst="rect">
            <a:avLst/>
          </a:prstGeom>
          <a:noFill/>
          <a:ln/>
        </p:spPr>
        <p:txBody>
          <a:bodyPr wrap="square" lIns="0" tIns="0" rIns="0" bIns="0" rtlCol="0" anchor="ctr"/>
          <a:lstStyle/>
          <a:p>
            <a:pPr indent="0" marL="0">
              <a:buNone/>
            </a:pPr>
            <a:r>
              <a:rPr lang="en-US" sz="1400" dirty="0">
                <a:solidFill>
                  <a:schemeClr val="tx2"/>
                </a:solidFill>
              </a:rPr>
              <a:t>The shifts; $250 of cloud-session credit until Nov 4</a:t>
            </a:r>
            <a:endParaRPr lang="en-US" sz="1400" dirty="0"/>
          </a:p>
        </p:txBody>
      </p:sp>
      <p:sp>
        <p:nvSpPr>
          <p:cNvPr id="15" name="machine Repo"/>
          <p:cNvSpPr/>
          <p:nvPr/>
        </p:nvSpPr>
        <p:spPr>
          <a:xfrm>
            <a:off x="457200" y="3950208"/>
            <a:ext cx="457200" cy="457200"/>
          </a:xfrm>
          <a:prstGeom prst="ellipse">
            <a:avLst/>
          </a:prstGeom>
          <a:solidFill>
            <a:schemeClr val="accent6"/>
          </a:solidFill>
          <a:ln w="12700">
            <a:solidFill>
              <a:schemeClr val="accent6"/>
            </a:solidFill>
            <a:prstDash val="solid"/>
          </a:ln>
        </p:spPr>
      </p:sp>
      <p:sp>
        <p:nvSpPr>
          <p:cNvPr id="16" name="Text 14"/>
          <p:cNvSpPr txBox="1"/>
          <p:nvPr/>
        </p:nvSpPr>
        <p:spPr>
          <a:xfrm>
            <a:off x="1097280" y="3904488"/>
            <a:ext cx="1463040" cy="548640"/>
          </a:xfrm>
          <a:prstGeom prst="rect">
            <a:avLst/>
          </a:prstGeom>
          <a:noFill/>
          <a:ln/>
        </p:spPr>
        <p:txBody>
          <a:bodyPr wrap="square" lIns="0" tIns="0" rIns="0" bIns="0" rtlCol="0" anchor="ctr"/>
          <a:lstStyle/>
          <a:p>
            <a:pPr indent="0" marL="0">
              <a:buNone/>
            </a:pPr>
            <a:r>
              <a:rPr lang="en-US" sz="1800" b="1" dirty="0">
                <a:solidFill>
                  <a:schemeClr val="tx1"/>
                </a:solidFill>
              </a:rPr>
              <a:t>Repo</a:t>
            </a:r>
            <a:endParaRPr lang="en-US" sz="1800" dirty="0"/>
          </a:p>
        </p:txBody>
      </p:sp>
      <p:sp>
        <p:nvSpPr>
          <p:cNvPr id="17" name="Text 15"/>
          <p:cNvSpPr txBox="1"/>
          <p:nvPr/>
        </p:nvSpPr>
        <p:spPr>
          <a:xfrm>
            <a:off x="2651760" y="3904488"/>
            <a:ext cx="6035040" cy="548640"/>
          </a:xfrm>
          <a:prstGeom prst="rect">
            <a:avLst/>
          </a:prstGeom>
          <a:noFill/>
          <a:ln/>
        </p:spPr>
        <p:txBody>
          <a:bodyPr wrap="square" lIns="0" tIns="0" rIns="0" bIns="0" rtlCol="0" anchor="ctr"/>
          <a:lstStyle/>
          <a:p>
            <a:pPr indent="0" marL="0">
              <a:buNone/>
            </a:pPr>
            <a:r>
              <a:rPr lang="en-US" sz="1400" dirty="0">
                <a:solidFill>
                  <a:schemeClr val="tx2"/>
                </a:solidFill>
              </a:rPr>
              <a:t>The memory: rules, homework, every weld, in English</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2800" b="1" dirty="0">
                <a:solidFill>
                  <a:schemeClr val="bg1"/>
                </a:solidFill>
                <a:latin typeface="Century Schoolbook" pitchFamily="34" charset="0"/>
                <a:ea typeface="Century Schoolbook" pitchFamily="34" charset="-122"/>
                <a:cs typeface="Century Schoolbook" pitchFamily="34" charset="-120"/>
              </a:rPr>
              <a:t>Circle the problem</a:t>
            </a:r>
            <a:endParaRPr lang="en-US" sz="2800" dirty="0"/>
          </a:p>
        </p:txBody>
      </p:sp>
      <p:sp>
        <p:nvSpPr>
          <p:cNvPr id="3" name="the circle"/>
          <p:cNvSpPr/>
          <p:nvPr/>
        </p:nvSpPr>
        <p:spPr>
          <a:xfrm>
            <a:off x="3108960" y="1143000"/>
            <a:ext cx="2926080" cy="2926080"/>
          </a:xfrm>
          <a:prstGeom prst="ellipse">
            <a:avLst/>
          </a:prstGeom>
          <a:solidFill>
            <a:schemeClr val="tx1"/>
          </a:solidFill>
          <a:ln w="38100">
            <a:solidFill>
              <a:schemeClr val="accent3"/>
            </a:solidFill>
            <a:prstDash val="dash"/>
          </a:ln>
        </p:spPr>
      </p:sp>
      <p:sp>
        <p:nvSpPr>
          <p:cNvPr id="4" name="the dot"/>
          <p:cNvSpPr/>
          <p:nvPr/>
        </p:nvSpPr>
        <p:spPr>
          <a:xfrm>
            <a:off x="4343400" y="237744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3840480" y="868680"/>
            <a:ext cx="2560320" cy="320040"/>
          </a:xfrm>
          <a:prstGeom prst="rect">
            <a:avLst/>
          </a:prstGeom>
          <a:noFill/>
          <a:ln/>
        </p:spPr>
        <p:txBody>
          <a:bodyPr wrap="square" lIns="0" tIns="0" rIns="0" bIns="0" rtlCol="0" anchor="ctr"/>
          <a:lstStyle/>
          <a:p>
            <a:pPr algn="l" indent="0" marL="0">
              <a:buNone/>
            </a:pPr>
            <a:r>
              <a:rPr lang="en-US" sz="1400" b="1" dirty="0">
                <a:solidFill>
                  <a:schemeClr val="accent3"/>
                </a:solidFill>
              </a:rPr>
              <a:t>write it down</a:t>
            </a:r>
            <a:endParaRPr lang="en-US" sz="1400" dirty="0"/>
          </a:p>
        </p:txBody>
      </p:sp>
      <p:sp>
        <p:nvSpPr>
          <p:cNvPr id="6" name="Text 4"/>
          <p:cNvSpPr txBox="1"/>
          <p:nvPr/>
        </p:nvSpPr>
        <p:spPr>
          <a:xfrm>
            <a:off x="6172200" y="2377440"/>
            <a:ext cx="2560320" cy="320040"/>
          </a:xfrm>
          <a:prstGeom prst="rect">
            <a:avLst/>
          </a:prstGeom>
          <a:noFill/>
          <a:ln/>
        </p:spPr>
        <p:txBody>
          <a:bodyPr wrap="square" lIns="0" tIns="0" rIns="0" bIns="0" rtlCol="0" anchor="ctr"/>
          <a:lstStyle/>
          <a:p>
            <a:pPr algn="l" indent="0" marL="0">
              <a:buNone/>
            </a:pPr>
            <a:r>
              <a:rPr lang="en-US" sz="1400" b="1" dirty="0">
                <a:solidFill>
                  <a:schemeClr val="accent3"/>
                </a:solidFill>
              </a:rPr>
              <a:t>circle it</a:t>
            </a:r>
            <a:endParaRPr lang="en-US" sz="1400" dirty="0"/>
          </a:p>
        </p:txBody>
      </p:sp>
      <p:sp>
        <p:nvSpPr>
          <p:cNvPr id="7" name="Text 5"/>
          <p:cNvSpPr txBox="1"/>
          <p:nvPr/>
        </p:nvSpPr>
        <p:spPr>
          <a:xfrm>
            <a:off x="3108960" y="4206240"/>
            <a:ext cx="2560320" cy="320040"/>
          </a:xfrm>
          <a:prstGeom prst="rect">
            <a:avLst/>
          </a:prstGeom>
          <a:noFill/>
          <a:ln/>
        </p:spPr>
        <p:txBody>
          <a:bodyPr wrap="square" lIns="0" tIns="0" rIns="0" bIns="0" rtlCol="0" anchor="ctr"/>
          <a:lstStyle/>
          <a:p>
            <a:pPr algn="l" indent="0" marL="0">
              <a:buNone/>
            </a:pPr>
            <a:r>
              <a:rPr lang="en-US" sz="1400" b="1" dirty="0">
                <a:solidFill>
                  <a:schemeClr val="accent3"/>
                </a:solidFill>
              </a:rPr>
              <a:t>prove it on a fresh one</a:t>
            </a:r>
            <a:endParaRPr lang="en-US" sz="1400" dirty="0"/>
          </a:p>
        </p:txBody>
      </p:sp>
      <p:sp>
        <p:nvSpPr>
          <p:cNvPr id="8" name="Text 6"/>
          <p:cNvSpPr txBox="1"/>
          <p:nvPr/>
        </p:nvSpPr>
        <p:spPr>
          <a:xfrm>
            <a:off x="365760" y="2377440"/>
            <a:ext cx="2560320" cy="320040"/>
          </a:xfrm>
          <a:prstGeom prst="rect">
            <a:avLst/>
          </a:prstGeom>
          <a:noFill/>
          <a:ln/>
        </p:spPr>
        <p:txBody>
          <a:bodyPr wrap="square" lIns="0" tIns="0" rIns="0" bIns="0" rtlCol="0" anchor="ctr"/>
          <a:lstStyle/>
          <a:p>
            <a:pPr algn="r" indent="0" marL="0">
              <a:buNone/>
            </a:pPr>
            <a:r>
              <a:rPr lang="en-US" sz="1400" b="1" dirty="0">
                <a:solidFill>
                  <a:schemeClr val="accent3"/>
                </a:solidFill>
              </a:rPr>
              <a:t>move the goalpost up the hill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t"/>
          <a:lstStyle/>
          <a:p>
            <a:pPr algn="l" indent="0" marL="0">
              <a:buNone/>
            </a:pPr>
            <a:r>
              <a:rPr lang="en-US" sz="2600" b="1" dirty="0">
                <a:solidFill>
                  <a:schemeClr val="tx1"/>
                </a:solidFill>
                <a:latin typeface="Century Schoolbook" pitchFamily="34" charset="0"/>
                <a:ea typeface="Century Schoolbook" pitchFamily="34" charset="-122"/>
                <a:cs typeface="Century Schoolbook" pitchFamily="34" charset="-120"/>
              </a:rPr>
              <a:t>Think it through once</a:t>
            </a:r>
            <a:endParaRPr lang="en-US" sz="2600" dirty="0"/>
          </a:p>
        </p:txBody>
      </p:sp>
      <p:graphicFrame>
        <p:nvGraphicFramePr>
          <p:cNvPr id="9" name="tape vs weld"/>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554480"/>
                <a:gridCol w="3337560"/>
                <a:gridCol w="3337560"/>
              </a:tblGrid>
              <a:tr h="502920">
                <a:tc>
                  <a:txBody>
                    <a:bodyPr/>
                    <a:lstStyle/>
                    <a:p>
                      <a:pPr indent="0" marL="0">
                        <a:buNone/>
                      </a:pP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solidFill>
                      <a:srgbClr val="FFFFFF"/>
                    </a:solidFill>
                  </a:tcPr>
                </a:tc>
                <a:tc>
                  <a:txBody>
                    <a:bodyPr/>
                    <a:lstStyle/>
                    <a:p>
                      <a:pPr indent="0" marL="0">
                        <a:buNone/>
                      </a:pPr>
                      <a:r>
                        <a:rPr lang="en-US" sz="1400" b="1" dirty="0">
                          <a:solidFill>
                            <a:srgbClr val="6C7280"/>
                          </a:solidFill>
                        </a:rPr>
                        <a:t>Duct tape (corporatemaxxing)</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b="1" dirty="0">
                          <a:solidFill>
                            <a:srgbClr val="E0262E"/>
                          </a:solidFill>
                        </a:rPr>
                        <a:t>Weld (whimsymaxxing)</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502920">
                <a:tc>
                  <a:txBody>
                    <a:bodyPr/>
                    <a:lstStyle/>
                    <a:p>
                      <a:pPr indent="0" marL="0">
                        <a:buNone/>
                      </a:pPr>
                      <a:r>
                        <a:rPr lang="en-US" sz="1400" dirty="0">
                          <a:solidFill>
                            <a:srgbClr val="17181D"/>
                          </a:solidFill>
                        </a:rPr>
                        <a:t>Goal</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Make it look perfect</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Make it work, then let it be</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502920">
                <a:tc>
                  <a:txBody>
                    <a:bodyPr/>
                    <a:lstStyle/>
                    <a:p>
                      <a:pPr indent="0" marL="0">
                        <a:buNone/>
                      </a:pPr>
                      <a:r>
                        <a:rPr lang="en-US" sz="1400" dirty="0">
                          <a:solidFill>
                            <a:srgbClr val="17181D"/>
                          </a:solidFill>
                        </a:rPr>
                        <a:t>Compute</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Burned every time you ask</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Burned once, then it’s code</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502920">
                <a:tc>
                  <a:txBody>
                    <a:bodyPr/>
                    <a:lstStyle/>
                    <a:p>
                      <a:pPr indent="0" marL="0">
                        <a:buNone/>
                      </a:pPr>
                      <a:r>
                        <a:rPr lang="en-US" sz="1400" dirty="0">
                          <a:solidFill>
                            <a:srgbClr val="17181D"/>
                          </a:solidFill>
                        </a:rPr>
                        <a:t>Memory</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Starts over each session</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Written down, read first</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502920">
                <a:tc>
                  <a:txBody>
                    <a:bodyPr/>
                    <a:lstStyle/>
                    <a:p>
                      <a:pPr indent="0" marL="0">
                        <a:buNone/>
                      </a:pPr>
                      <a:r>
                        <a:rPr lang="en-US" sz="1400" dirty="0">
                          <a:solidFill>
                            <a:srgbClr val="17181D"/>
                          </a:solidFill>
                        </a:rPr>
                        <a:t>When it breaks</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More tape</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Circle it, weld it</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r h="502920">
                <a:tc>
                  <a:txBody>
                    <a:bodyPr/>
                    <a:lstStyle/>
                    <a:p>
                      <a:pPr indent="0" marL="0">
                        <a:buNone/>
                      </a:pPr>
                      <a:r>
                        <a:rPr lang="en-US" sz="1400" dirty="0">
                          <a:solidFill>
                            <a:srgbClr val="17181D"/>
                          </a:solidFill>
                        </a:rPr>
                        <a:t>Who owns it</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The dispenser company</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c>
                  <a:txBody>
                    <a:bodyPr/>
                    <a:lstStyle/>
                    <a:p>
                      <a:pPr indent="0" marL="0">
                        <a:buNone/>
                      </a:pPr>
                      <a:r>
                        <a:rPr lang="en-US" sz="1400" dirty="0">
                          <a:solidFill>
                            <a:srgbClr val="17181D"/>
                          </a:solidFill>
                        </a:rPr>
                        <a:t>The co-op</a:t>
                      </a:r>
                      <a:endParaRPr lang="en-US" sz="1400" dirty="0"/>
                    </a:p>
                  </a:txBody>
                  <a:tcPr marL="91440" marR="91440" marT="45720" marB="45720" anchor="ctr">
                    <a:lnL w="9525" cap="flat" cmpd="sng" algn="ctr">
                      <a:solidFill>
                        <a:srgbClr val="DADDE3"/>
                      </a:solidFill>
                      <a:prstDash val="solid"/>
                      <a:round/>
                      <a:headEnd type="none" w="med" len="med"/>
                      <a:tailEnd type="none" w="med" len="med"/>
                    </a:lnL>
                    <a:lnR w="9525" cap="flat" cmpd="sng" algn="ctr">
                      <a:solidFill>
                        <a:srgbClr val="DADDE3"/>
                      </a:solidFill>
                      <a:prstDash val="solid"/>
                      <a:round/>
                      <a:headEnd type="none" w="med" len="med"/>
                      <a:tailEnd type="none" w="med" len="med"/>
                    </a:lnR>
                    <a:lnT w="9525" cap="flat" cmpd="sng" algn="ctr">
                      <a:solidFill>
                        <a:srgbClr val="DADDE3"/>
                      </a:solidFill>
                      <a:prstDash val="solid"/>
                      <a:round/>
                      <a:headEnd type="none" w="med" len="med"/>
                      <a:tailEnd type="none" w="med" len="med"/>
                    </a:lnT>
                    <a:lnB w="9525" cap="flat" cmpd="sng" algn="ctr">
                      <a:solidFill>
                        <a:srgbClr val="DADD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red dot"/>
          <p:cNvSpPr/>
          <p:nvPr/>
        </p:nvSpPr>
        <p:spPr>
          <a:xfrm>
            <a:off x="4023360" y="640080"/>
            <a:ext cx="1097280" cy="1097280"/>
          </a:xfrm>
          <a:prstGeom prst="ellipse">
            <a:avLst/>
          </a:prstGeom>
          <a:solidFill>
            <a:schemeClr val="accent1"/>
          </a:solidFill>
          <a:ln w="12700">
            <a:solidFill>
              <a:schemeClr val="accent1"/>
            </a:solidFill>
            <a:prstDash val="solid"/>
          </a:ln>
        </p:spPr>
      </p:sp>
      <p:sp>
        <p:nvSpPr>
          <p:cNvPr id="3" name="Text 1"/>
          <p:cNvSpPr txBox="1"/>
          <p:nvPr/>
        </p:nvSpPr>
        <p:spPr>
          <a:xfrm>
            <a:off x="731520" y="2011680"/>
            <a:ext cx="7680960" cy="640080"/>
          </a:xfrm>
          <a:prstGeom prst="rect">
            <a:avLst/>
          </a:prstGeom>
          <a:noFill/>
          <a:ln/>
        </p:spPr>
        <p:txBody>
          <a:bodyPr wrap="square" lIns="0" tIns="0" rIns="0" bIns="0" rtlCol="0" anchor="ctr"/>
          <a:lstStyle/>
          <a:p>
            <a:pPr algn="ctr" indent="0" marL="0">
              <a:buNone/>
            </a:pPr>
            <a:r>
              <a:rPr lang="en-US" sz="3000" b="1" dirty="0">
                <a:solidFill>
                  <a:schemeClr val="bg1"/>
                </a:solidFill>
                <a:latin typeface="Century Schoolbook" pitchFamily="34" charset="0"/>
                <a:ea typeface="Century Schoolbook" pitchFamily="34" charset="-122"/>
                <a:cs typeface="Century Schoolbook" pitchFamily="34" charset="-120"/>
              </a:rPr>
              <a:t>They sell the dispenser. We weld.</a:t>
            </a:r>
            <a:endParaRPr lang="en-US" sz="3000" dirty="0"/>
          </a:p>
        </p:txBody>
      </p:sp>
      <p:sp>
        <p:nvSpPr>
          <p:cNvPr id="4" name="Text 2"/>
          <p:cNvSpPr txBox="1"/>
          <p:nvPr/>
        </p:nvSpPr>
        <p:spPr>
          <a:xfrm>
            <a:off x="731520" y="2788920"/>
            <a:ext cx="7680960" cy="457200"/>
          </a:xfrm>
          <a:prstGeom prst="rect">
            <a:avLst/>
          </a:prstGeom>
          <a:noFill/>
          <a:ln/>
        </p:spPr>
        <p:txBody>
          <a:bodyPr wrap="square" lIns="0" tIns="0" rIns="0" bIns="0" rtlCol="0" anchor="ctr"/>
          <a:lstStyle/>
          <a:p>
            <a:pPr algn="ctr" indent="0" marL="0">
              <a:buNone/>
            </a:pPr>
            <a:r>
              <a:rPr lang="en-US" sz="1800" dirty="0">
                <a:solidFill>
                  <a:schemeClr val="accent3"/>
                </a:solidFill>
              </a:rPr>
              <a:t>Recycle. Gift economy. A circle. whimzmaxx.com</a:t>
            </a:r>
            <a:endParaRPr lang="en-US" sz="1800" dirty="0"/>
          </a:p>
        </p:txBody>
      </p:sp>
    </p:spTree>
  </p:cSld>
  <p:clrMapOvr>
    <a:masterClrMapping/>
  </p:clrMapOvr>
</p:sld>
</file>

<file path=ppt/theme/theme1.xml><?xml version="1.0" encoding="utf-8"?>
<a:theme xmlns:a="http://schemas.openxmlformats.org/drawingml/2006/main" name="asaaab Commercial">
  <a:themeElements>
    <a:clrScheme name="asaaab Commercial">
      <a:dk1>
        <a:srgbClr val="17181D"/>
      </a:dk1>
      <a:lt1>
        <a:srgbClr val="FFFFFF"/>
      </a:lt1>
      <a:dk2>
        <a:srgbClr val="3A3D47"/>
      </a:dk2>
      <a:lt2>
        <a:srgbClr val="EEF0F4"/>
      </a:lt2>
      <a:accent1>
        <a:srgbClr val="E0262E"/>
      </a:accent1>
      <a:accent2>
        <a:srgbClr val="9AA0AC"/>
      </a:accent2>
      <a:accent3>
        <a:srgbClr val="E3A21A"/>
      </a:accent3>
      <a:accent4>
        <a:srgbClr val="1F9E89"/>
      </a:accent4>
      <a:accent5>
        <a:srgbClr val="2C8FD6"/>
      </a:accent5>
      <a:accent6>
        <a:srgbClr val="6C7280"/>
      </a:accent6>
      <a:hlink>
        <a:srgbClr val="2C8FD6"/>
      </a:hlink>
      <a:folHlink>
        <a:srgbClr val="6C7280"/>
      </a:folHlink>
    </a:clrScheme>
    <a:fontScheme name="asaaab Commercial">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2026-10-27T06:15:48Z</dcterms:created>
  <dcterms:modified xsi:type="dcterms:W3CDTF">2026-10-27T06:15:48Z</dcterms:modified>
</cp:coreProperties>
</file>