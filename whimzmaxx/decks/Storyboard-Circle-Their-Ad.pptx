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oryboard: circle their ad" id="{93e4fb0a-95a9-7add-ed09-c14941fc0b9c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Captain 11:04pm: "pls find a way to send the trimmed version of the video and the duct tape commercial pptx and a storyboard outlined on how just circling the problem of their thing., just asking this bot, showed the holes in their logic. the ad is already written." Then: "thats the structure im talking about". Source footage: his 68.5 s screen recording of the sponsored Perplexity 'Computer' TikTok. Before posting anything that reuses their footage, the lawyer friend checks it (commentary use of a competitor's ad).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Their frame at 0:00–0:05, from the frame-by-frame read in "A Duct Tape Commercial". Production: freeze their frame, Captain draws the red circle by hand on the phone (finger, not a generated graphic), VO over it. The hole line is the on-screen caption.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Their frame at 0:19–0:33, from the frame-by-frame read in "A Duct Tape Commercial". Production: freeze their frame, Captain draws the red circle by hand on the phone (finger, not a generated graphic), VO over it. The hole line is the on-screen caption.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Their frame at 0:34–0:40, from the frame-by-frame read in "A Duct Tape Commercial". Production: freeze their frame, Captain draws the red circle by hand on the phone (finger, not a generated graphic), VO over it. The hole line is the on-screen caption.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Their frame at 0:41–0:50, from the frame-by-frame read in "A Duct Tape Commercial". Production: freeze their frame, Captain draws the red circle by hand on the phone (finger, not a generated graphic), VO over it. The hole line is the on-screen caption.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Their frame at 0:51–0:66, from the frame-by-frame read in "A Duct Tape Commercial". Production: freeze their frame, Captain draws the red circle by hand on the phone (finger, not a generated graphic), VO over it. The hole line is the on-screen caption.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Their frame at 0:67, from the frame-by-frame read in "A Duct Tape Commercial". Production: freeze their frame, Captain draws the red circle by hand on the phone (finger, not a generated graphic), VO over it. The hole line is the on-screen caption.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screen capture only. The proof is that the deck exists, was made from one ask, and is public on whimzmaxx.com/decks.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montage, one second each: the decks page, a facepalm homework email in the asaaab inbox, a crew ping on tower text. All real screens.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Shot 9, end card. The Build door ("throw me a few bucks and hit a button") joins the end card once the button is wired; that needs the Captain's own payment account.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B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B_PAPER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d circle"/>
          <p:cNvSpPr/>
          <p:nvPr/>
        </p:nvSpPr>
        <p:spPr>
          <a:xfrm>
            <a:off x="5852160" y="822960"/>
            <a:ext cx="2560320" cy="2560320"/>
          </a:xfrm>
          <a:prstGeom prst="ellipse">
            <a:avLst/>
          </a:prstGeom>
          <a:ln w="635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1887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ad is already written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402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Storyboard: circle every claim in their 68 seconds, and the holes show themselves.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389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Their footage + one red marker + one bot. That's the whole production.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Shot 1 · their 0:00–0:05</a:t>
            </a:r>
            <a:endParaRPr lang="en-US" sz="2200" dirty="0"/>
          </a:p>
        </p:txBody>
      </p:sp>
      <p:sp>
        <p:nvSpPr>
          <p:cNvPr id="3" name="their frame"/>
          <p:cNvSpPr/>
          <p:nvPr/>
        </p:nvSpPr>
        <p:spPr>
          <a:xfrm>
            <a:off x="548640" y="914400"/>
            <a:ext cx="2011680" cy="3566160"/>
          </a:xfrm>
          <a:prstGeom prst="roundRect">
            <a:avLst>
              <a:gd name="adj" fmla="val 6818"/>
            </a:avLst>
          </a:prstGeom>
          <a:solidFill>
            <a:schemeClr val="tx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1737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Their open: “the first AI that works” · “AI was supposed to…”</a:t>
            </a:r>
            <a:endParaRPr lang="en-US" sz="1100" dirty="0"/>
          </a:p>
        </p:txBody>
      </p:sp>
      <p:sp>
        <p:nvSpPr>
          <p:cNvPr id="5" name="marker circle"/>
          <p:cNvSpPr/>
          <p:nvPr/>
        </p:nvSpPr>
        <p:spPr>
          <a:xfrm>
            <a:off x="777240" y="3429000"/>
            <a:ext cx="1554480" cy="731520"/>
          </a:xfrm>
          <a:prstGeom prst="ellipse">
            <a:avLst/>
          </a:prstGeom>
          <a:ln w="381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3566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“works”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926080" y="9144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</a:rPr>
              <a:t>CIRCLE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926080" y="1207008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“works”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21031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</a:rPr>
              <a:t>THE HOLE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926080" y="2395728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If the last ones were supposed to work, why is the fix more of the same?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926080" y="32918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</a:rPr>
              <a:t>VO (Captain)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3584448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accent4"/>
                </a:solidFill>
              </a:rPr>
              <a:t>“The first AI that works. Okay. Let’s circle that.”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Shot 2 · their 0:19–0:33</a:t>
            </a:r>
            <a:endParaRPr lang="en-US" sz="2200" dirty="0"/>
          </a:p>
        </p:txBody>
      </p:sp>
      <p:sp>
        <p:nvSpPr>
          <p:cNvPr id="3" name="their frame"/>
          <p:cNvSpPr/>
          <p:nvPr/>
        </p:nvSpPr>
        <p:spPr>
          <a:xfrm>
            <a:off x="548640" y="914400"/>
            <a:ext cx="2011680" cy="3566160"/>
          </a:xfrm>
          <a:prstGeom prst="roundRect">
            <a:avLst>
              <a:gd name="adj" fmla="val 6818"/>
            </a:avLst>
          </a:prstGeom>
          <a:solidFill>
            <a:schemeClr val="tx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1737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“orchestrates 19 AI models” — Gemini, Grok, Nano Banana, Claude</a:t>
            </a:r>
            <a:endParaRPr lang="en-US" sz="1100" dirty="0"/>
          </a:p>
        </p:txBody>
      </p:sp>
      <p:sp>
        <p:nvSpPr>
          <p:cNvPr id="5" name="marker circle"/>
          <p:cNvSpPr/>
          <p:nvPr/>
        </p:nvSpPr>
        <p:spPr>
          <a:xfrm>
            <a:off x="777240" y="3429000"/>
            <a:ext cx="1554480" cy="731520"/>
          </a:xfrm>
          <a:prstGeom prst="ellipse">
            <a:avLst/>
          </a:prstGeom>
          <a:ln w="381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3566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“19”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926080" y="9144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</a:rPr>
              <a:t>CIRCLE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926080" y="1207008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“19”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21031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</a:rPr>
              <a:t>THE HOLE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926080" y="2395728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Nineteen models taped over the spot where one breaks. The gap is covered, not closed.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926080" y="32918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</a:rPr>
              <a:t>VO (Captain)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3584448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accent4"/>
                </a:solidFill>
              </a:rPr>
              <a:t>“Nineteen. When one breaks, they add eighteen.”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Shot 3 · their 0:34–0:40</a:t>
            </a:r>
            <a:endParaRPr lang="en-US" sz="2200" dirty="0"/>
          </a:p>
        </p:txBody>
      </p:sp>
      <p:sp>
        <p:nvSpPr>
          <p:cNvPr id="3" name="their frame"/>
          <p:cNvSpPr/>
          <p:nvPr/>
        </p:nvSpPr>
        <p:spPr>
          <a:xfrm>
            <a:off x="548640" y="914400"/>
            <a:ext cx="2011680" cy="3566160"/>
          </a:xfrm>
          <a:prstGeom prst="roundRect">
            <a:avLst>
              <a:gd name="adj" fmla="val 6818"/>
            </a:avLst>
          </a:prstGeom>
          <a:solidFill>
            <a:schemeClr val="tx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1737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“like your team of experts”: five gray avatars, CPA, designer, developer, copywriter, analyst</a:t>
            </a:r>
            <a:endParaRPr lang="en-US" sz="1100" dirty="0"/>
          </a:p>
        </p:txBody>
      </p:sp>
      <p:sp>
        <p:nvSpPr>
          <p:cNvPr id="5" name="marker circle"/>
          <p:cNvSpPr/>
          <p:nvPr/>
        </p:nvSpPr>
        <p:spPr>
          <a:xfrm>
            <a:off x="777240" y="3429000"/>
            <a:ext cx="1554480" cy="731520"/>
          </a:xfrm>
          <a:prstGeom prst="ellipse">
            <a:avLst/>
          </a:prstGeom>
          <a:ln w="381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3566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the five icons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926080" y="9144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</a:rPr>
              <a:t>CIRCLE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926080" y="1207008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the five icons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21031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</a:rPr>
              <a:t>THE HOLE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926080" y="2395728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CPA’s, a designer’s, a developer’s whole lives become icons. Nobody in this ad gets paid.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926080" y="32918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</a:rPr>
              <a:t>VO (Captain)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3584448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accent4"/>
                </a:solidFill>
              </a:rPr>
              <a:t>“Your team of experts. Who’s paying them?”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Shot 4 · their 0:41–0:50</a:t>
            </a:r>
            <a:endParaRPr lang="en-US" sz="2200" dirty="0"/>
          </a:p>
        </p:txBody>
      </p:sp>
      <p:sp>
        <p:nvSpPr>
          <p:cNvPr id="3" name="their frame"/>
          <p:cNvSpPr/>
          <p:nvPr/>
        </p:nvSpPr>
        <p:spPr>
          <a:xfrm>
            <a:off x="548640" y="914400"/>
            <a:ext cx="2011680" cy="3566160"/>
          </a:xfrm>
          <a:prstGeom prst="roundRect">
            <a:avLst>
              <a:gd name="adj" fmla="val 6818"/>
            </a:avLst>
          </a:prstGeom>
          <a:solidFill>
            <a:schemeClr val="tx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1737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P&amp;L dashboards, a $71,400 proposal</a:t>
            </a:r>
            <a:endParaRPr lang="en-US" sz="1100" dirty="0"/>
          </a:p>
        </p:txBody>
      </p:sp>
      <p:sp>
        <p:nvSpPr>
          <p:cNvPr id="5" name="marker circle"/>
          <p:cNvSpPr/>
          <p:nvPr/>
        </p:nvSpPr>
        <p:spPr>
          <a:xfrm>
            <a:off x="777240" y="3429000"/>
            <a:ext cx="1554480" cy="731520"/>
          </a:xfrm>
          <a:prstGeom prst="ellipse">
            <a:avLst/>
          </a:prstGeom>
          <a:ln w="381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3566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“$71,400”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926080" y="9144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</a:rPr>
              <a:t>CIRCLE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926080" y="1207008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“$71,400”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21031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</a:rPr>
              <a:t>THE HOLE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926080" y="2395728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hero result is a pitch. The machine makes sales for the next machine.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926080" y="32918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</a:rPr>
              <a:t>VO (Captain)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3584448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accent4"/>
                </a:solidFill>
              </a:rPr>
              <a:t>“The big win is… a sales pitch.”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Shot 5 · their 0:51–0:66</a:t>
            </a:r>
            <a:endParaRPr lang="en-US" sz="2200" dirty="0"/>
          </a:p>
        </p:txBody>
      </p:sp>
      <p:sp>
        <p:nvSpPr>
          <p:cNvPr id="3" name="their frame"/>
          <p:cNvSpPr/>
          <p:nvPr/>
        </p:nvSpPr>
        <p:spPr>
          <a:xfrm>
            <a:off x="548640" y="914400"/>
            <a:ext cx="2011680" cy="3566160"/>
          </a:xfrm>
          <a:prstGeom prst="roundRect">
            <a:avLst>
              <a:gd name="adj" fmla="val 6818"/>
            </a:avLst>
          </a:prstGeom>
          <a:solidFill>
            <a:schemeClr val="tx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1737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“thousands of apps” · “context of all my work” · “until now”</a:t>
            </a:r>
            <a:endParaRPr lang="en-US" sz="1100" dirty="0"/>
          </a:p>
        </p:txBody>
      </p:sp>
      <p:sp>
        <p:nvSpPr>
          <p:cNvPr id="5" name="marker circle"/>
          <p:cNvSpPr/>
          <p:nvPr/>
        </p:nvSpPr>
        <p:spPr>
          <a:xfrm>
            <a:off x="777240" y="3429000"/>
            <a:ext cx="1554480" cy="731520"/>
          </a:xfrm>
          <a:prstGeom prst="ellipse">
            <a:avLst/>
          </a:prstGeom>
          <a:ln w="381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3566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“all my work”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926080" y="9144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</a:rPr>
              <a:t>CIRCLE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926080" y="1207008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“all my work”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21031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</a:rPr>
              <a:t>THE HOLE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926080" y="2395728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All your work, in their machine. You rent the context back.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926080" y="32918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</a:rPr>
              <a:t>VO (Captain)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3584448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accent4"/>
                </a:solidFill>
              </a:rPr>
              <a:t>“All my work. Whose computer is it on?”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Shot 6 · their 0:67</a:t>
            </a:r>
            <a:endParaRPr lang="en-US" sz="2200" dirty="0"/>
          </a:p>
        </p:txBody>
      </p:sp>
      <p:sp>
        <p:nvSpPr>
          <p:cNvPr id="3" name="their frame"/>
          <p:cNvSpPr/>
          <p:nvPr/>
        </p:nvSpPr>
        <p:spPr>
          <a:xfrm>
            <a:off x="548640" y="914400"/>
            <a:ext cx="2011680" cy="3566160"/>
          </a:xfrm>
          <a:prstGeom prst="roundRect">
            <a:avLst>
              <a:gd name="adj" fmla="val 6818"/>
            </a:avLst>
          </a:prstGeom>
          <a:solidFill>
            <a:schemeClr val="tx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1737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“try Computer.”</a:t>
            </a:r>
            <a:endParaRPr lang="en-US" sz="1100" dirty="0"/>
          </a:p>
        </p:txBody>
      </p:sp>
      <p:sp>
        <p:nvSpPr>
          <p:cNvPr id="5" name="marker circle"/>
          <p:cNvSpPr/>
          <p:nvPr/>
        </p:nvSpPr>
        <p:spPr>
          <a:xfrm>
            <a:off x="777240" y="3429000"/>
            <a:ext cx="1554480" cy="731520"/>
          </a:xfrm>
          <a:prstGeom prst="ellipse">
            <a:avLst/>
          </a:prstGeom>
          <a:ln w="381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3566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“try”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926080" y="9144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</a:rPr>
              <a:t>CIRCLE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926080" y="1207008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“try”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21031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</a:rPr>
              <a:t>THE HOLE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926080" y="2395728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You rent the dispenser. Ownership stays with them.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926080" y="32918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</a:rPr>
              <a:t>VO (Captain)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3584448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accent4"/>
                </a:solidFill>
              </a:rPr>
              <a:t>“Try. Not own.”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Shot 7 · the turn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Cut from their glossy frames to the real chat on the Captain’s phone: he asked one bot to circle the problem, and the six holes above came back in one answer.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4"/>
                </a:solidFill>
              </a:rPr>
              <a:t>VO: “I didn’t need nineteen models. I asked one bot to circle the problem.”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On screen: the chat scrolling, then the whimzmaxx.com/decks page with The Diary on top.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Shot 8 · said once, kept running</a:t>
            </a:r>
            <a:endParaRPr lang="en-US" sz="2200" dirty="0"/>
          </a:p>
        </p:txBody>
      </p:sp>
      <p:sp>
        <p:nvSpPr>
          <p:cNvPr id="3" name="dot 1"/>
          <p:cNvSpPr/>
          <p:nvPr/>
        </p:nvSpPr>
        <p:spPr>
          <a:xfrm>
            <a:off x="548640" y="10972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280160" y="1143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“pptx”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11430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→ a deck, stitched into The Diary, on whimzmaxx</a:t>
            </a:r>
            <a:endParaRPr lang="en-US" sz="1600" dirty="0"/>
          </a:p>
        </p:txBody>
      </p:sp>
      <p:sp>
        <p:nvSpPr>
          <p:cNvPr id="6" name="dot 2"/>
          <p:cNvSpPr/>
          <p:nvPr/>
        </p:nvSpPr>
        <p:spPr>
          <a:xfrm>
            <a:off x="548640" y="19659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80160" y="2011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“not only me”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2011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→ facepalmbot writes the machine’s own homework</a:t>
            </a:r>
            <a:endParaRPr lang="en-US" sz="1600" dirty="0"/>
          </a:p>
        </p:txBody>
      </p:sp>
      <p:sp>
        <p:nvSpPr>
          <p:cNvPr id="9" name="dot 3"/>
          <p:cNvSpPr/>
          <p:nvPr/>
        </p:nvSpPr>
        <p:spPr>
          <a:xfrm>
            <a:off x="548640" y="28346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80160" y="2880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“walkie talkie”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28803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→ crew pings on the phone thread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4"/>
                </a:solidFill>
              </a:rPr>
              <a:t>VO: “Theirs starts over every time you ask. Ours writes it down once and keeps running.”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d dot"/>
          <p:cNvSpPr/>
          <p:nvPr/>
        </p:nvSpPr>
        <p:spPr>
          <a:xfrm>
            <a:off x="4023360" y="548640"/>
            <a:ext cx="1097280" cy="10972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0116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They sell the dispenser. We weld.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788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Learn free: read the pptx.  whimzmaxx.com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saaab Storyboard">
  <a:themeElements>
    <a:clrScheme name="asaaab Storyboard">
      <a:dk1>
        <a:srgbClr val="17181D"/>
      </a:dk1>
      <a:lt1>
        <a:srgbClr val="FFFFFF"/>
      </a:lt1>
      <a:dk2>
        <a:srgbClr val="3A3D47"/>
      </a:dk2>
      <a:lt2>
        <a:srgbClr val="F4F1EA"/>
      </a:lt2>
      <a:accent1>
        <a:srgbClr val="E0262E"/>
      </a:accent1>
      <a:accent2>
        <a:srgbClr val="9AA0AC"/>
      </a:accent2>
      <a:accent3>
        <a:srgbClr val="E3A21A"/>
      </a:accent3>
      <a:accent4>
        <a:srgbClr val="1F9E89"/>
      </a:accent4>
      <a:accent5>
        <a:srgbClr val="2C8FD6"/>
      </a:accent5>
      <a:accent6>
        <a:srgbClr val="6C7280"/>
      </a:accent6>
      <a:hlink>
        <a:srgbClr val="2C8FD6"/>
      </a:hlink>
      <a:folHlink>
        <a:srgbClr val="6C7280"/>
      </a:folHlink>
    </a:clrScheme>
    <a:fontScheme name="asaaab Storyboard">
      <a:majorFont>
        <a:latin typeface="Century Schoolboo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Storyboard: Circle Their Ad</dc:title>
  <dc:subject>PptxGenJS Presentation</dc:subject>
  <dc:creator>PptxGenJS</dc:creator>
  <cp:lastModifiedBy>PptxGenJS</cp:lastModifiedBy>
  <cp:revision>1</cp:revision>
  <dcterms:created xsi:type="dcterms:W3CDTF">2026-10-27T06:06:05Z</dcterms:created>
  <dcterms:modified xsi:type="dcterms:W3CDTF">2026-10-27T06:06:05Z</dcterms:modified>
</cp:coreProperties>
</file>